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31E52-A6E0-C3B3-26EC-7136D22CF4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Securing a WebApp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373A6-0C84-17DF-C4F6-92915052D3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Prepared by Dipen Patel                     </a:t>
            </a:r>
          </a:p>
          <a:p>
            <a:r>
              <a:rPr lang="en-IN" dirty="0"/>
              <a:t>2025ICS-008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8530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5795-DA8D-A8AB-BA9C-CDD5BFFB7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MERN Landscape and OWASP top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06097-1FAA-60DF-39A4-D76DDCB0C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213426" cy="5064587"/>
          </a:xfrm>
        </p:spPr>
        <p:txBody>
          <a:bodyPr/>
          <a:lstStyle/>
          <a:p>
            <a:r>
              <a:rPr lang="en-IN" b="1" dirty="0"/>
              <a:t>MERN Landscape:</a:t>
            </a:r>
            <a:r>
              <a:rPr lang="en-IN" dirty="0"/>
              <a:t> Frontend(React), Backend(Node/Express), Database(MongoDB), Service(Azure)</a:t>
            </a:r>
          </a:p>
          <a:p>
            <a:r>
              <a:rPr lang="en-IN" b="1" dirty="0"/>
              <a:t>WebApp: </a:t>
            </a:r>
            <a:r>
              <a:rPr lang="en-IN" dirty="0"/>
              <a:t>CRM(Customer Relationship Management)</a:t>
            </a:r>
          </a:p>
          <a:p>
            <a:r>
              <a:rPr lang="en-IN" b="1" dirty="0"/>
              <a:t>OWASP Top 10: </a:t>
            </a:r>
            <a:r>
              <a:rPr lang="en-IN" dirty="0"/>
              <a:t>List of critical web security risks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Approach: </a:t>
            </a:r>
            <a:r>
              <a:rPr lang="en-IN" dirty="0"/>
              <a:t>Address a risk and implement a Security Solution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EBE61A-973F-F9FC-1154-0E8934368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227842"/>
            <a:ext cx="8202170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9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4B62-86F6-5F90-D4F9-30FD1FBC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62F8-F5E3-EA1C-FA31-790D7136C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4759787"/>
          </a:xfrm>
        </p:spPr>
        <p:txBody>
          <a:bodyPr/>
          <a:lstStyle/>
          <a:p>
            <a:r>
              <a:rPr lang="en-IN" b="1" dirty="0"/>
              <a:t>Access Control: </a:t>
            </a:r>
            <a:r>
              <a:rPr lang="en-IN" dirty="0"/>
              <a:t>Who cam perform which action or access which resources</a:t>
            </a:r>
          </a:p>
          <a:p>
            <a:r>
              <a:rPr lang="en-IN" b="1" dirty="0"/>
              <a:t>Examples of broken access controls:</a:t>
            </a:r>
          </a:p>
          <a:p>
            <a:pPr lvl="1"/>
            <a:r>
              <a:rPr lang="en-IN" b="1" dirty="0"/>
              <a:t>Vertical privilege escalation </a:t>
            </a:r>
          </a:p>
          <a:p>
            <a:pPr marL="914400" lvl="2" indent="0">
              <a:buNone/>
            </a:pPr>
            <a:r>
              <a:rPr lang="en-IN" dirty="0"/>
              <a:t>a low level user gains admin functions</a:t>
            </a:r>
          </a:p>
          <a:p>
            <a:pPr lvl="1"/>
            <a:r>
              <a:rPr lang="en-IN" b="1" dirty="0"/>
              <a:t>Horizontal privilege escalation</a:t>
            </a:r>
          </a:p>
          <a:p>
            <a:pPr marL="914400" lvl="2" indent="0">
              <a:buNone/>
            </a:pPr>
            <a:r>
              <a:rPr lang="en-IN" dirty="0"/>
              <a:t>A user accesses another same level users resources</a:t>
            </a:r>
          </a:p>
          <a:p>
            <a:r>
              <a:rPr lang="en-IN" b="1" dirty="0"/>
              <a:t>Common Reasons for broken access controls:</a:t>
            </a:r>
          </a:p>
          <a:p>
            <a:pPr lvl="1"/>
            <a:r>
              <a:rPr lang="en-IN" b="1" dirty="0"/>
              <a:t>Unprotected functionality | Endpoint</a:t>
            </a:r>
          </a:p>
          <a:p>
            <a:pPr lvl="1"/>
            <a:endParaRPr lang="en-IN" b="1" dirty="0"/>
          </a:p>
          <a:p>
            <a:pPr lvl="1"/>
            <a:endParaRPr lang="en-IN" b="1" dirty="0"/>
          </a:p>
          <a:p>
            <a:pPr lvl="1"/>
            <a:r>
              <a:rPr lang="en-IN" b="1" dirty="0"/>
              <a:t>Lack of Authentication and Request Validation</a:t>
            </a:r>
          </a:p>
          <a:p>
            <a:pPr lvl="1"/>
            <a:r>
              <a:rPr lang="en-IN" b="1" dirty="0"/>
              <a:t>No proper User structure</a:t>
            </a:r>
          </a:p>
          <a:p>
            <a:pPr lvl="2"/>
            <a:endParaRPr lang="en-IN" b="1" dirty="0"/>
          </a:p>
          <a:p>
            <a:endParaRPr lang="en-IN" b="1" dirty="0"/>
          </a:p>
          <a:p>
            <a:pPr lvl="1"/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3F241-B97B-118B-3518-8570CD9FEC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07" b="93726"/>
          <a:stretch>
            <a:fillRect/>
          </a:stretch>
        </p:blipFill>
        <p:spPr>
          <a:xfrm>
            <a:off x="1299571" y="4475276"/>
            <a:ext cx="6561001" cy="71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7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5A962-D43F-8F5F-B9FC-6477CCD2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969A9-2458-2D00-9664-930793308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4834-BE0B-1F65-46A7-92FD216AB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4759787"/>
          </a:xfrm>
        </p:spPr>
        <p:txBody>
          <a:bodyPr/>
          <a:lstStyle/>
          <a:p>
            <a:r>
              <a:rPr lang="en-IN" b="1" dirty="0"/>
              <a:t>Mitigation:</a:t>
            </a: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Well defined Role-Based Access Control (RBAC)</a:t>
            </a:r>
          </a:p>
          <a:p>
            <a:endParaRPr lang="en-IN" b="1" dirty="0"/>
          </a:p>
          <a:p>
            <a:pPr lvl="1"/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BBB1F-C0CA-F777-7385-087987B89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" y="2720428"/>
            <a:ext cx="6614160" cy="3317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852DB8-29A2-98A3-453E-A5B58AE177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444" y="609600"/>
            <a:ext cx="2270116" cy="5452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773234-3773-B49B-9F2E-ACF14F4BD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494" y="1761672"/>
            <a:ext cx="1821980" cy="428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79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BA7B-9F62-0335-D762-BE8AA89C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B53B-3B9E-2FB5-CC03-D3BF5C3B5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A36EF-5DC9-42F4-2CDF-7DEE34BB1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4629"/>
            <a:ext cx="8596668" cy="4759787"/>
          </a:xfrm>
        </p:spPr>
        <p:txBody>
          <a:bodyPr/>
          <a:lstStyle/>
          <a:p>
            <a:r>
              <a:rPr lang="en-IN" b="1" dirty="0"/>
              <a:t>Mitigation:</a:t>
            </a: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Make use of Tokens to validate the user roles</a:t>
            </a:r>
          </a:p>
          <a:p>
            <a:pPr marL="685800" lvl="1"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b="1" dirty="0"/>
          </a:p>
          <a:p>
            <a:pPr lvl="1"/>
            <a:endParaRPr lang="en-IN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5D968C-9EA8-9E83-9A80-90FEE4404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17" y="2202909"/>
            <a:ext cx="3445422" cy="7433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856333-1145-2949-D204-0D4AAFCF5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17" y="3115310"/>
            <a:ext cx="7787145" cy="362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46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B38CC-E814-2DC7-3CD0-CB6B957C5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B5A23-24CC-F001-1452-30DD085BB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A6E5C-CA7C-4410-7318-304542B1D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055946" cy="5064587"/>
          </a:xfrm>
        </p:spPr>
        <p:txBody>
          <a:bodyPr/>
          <a:lstStyle/>
          <a:p>
            <a:r>
              <a:rPr lang="en-IN" b="1" dirty="0"/>
              <a:t>Mitigation:</a:t>
            </a: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</a:rPr>
              <a:t>Middleware for role checks and permission checks(Make sure all endpoints are covered)</a:t>
            </a: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C50375-62D7-1B1C-7CD0-5BD105AFC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6" y="2467277"/>
            <a:ext cx="5728300" cy="3373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D797F9-9DC3-4FCB-07D1-A762D0A4C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821" y="2467277"/>
            <a:ext cx="5149179" cy="2137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EE5A57-F98D-713D-378C-934DE41FA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461" y="5030338"/>
            <a:ext cx="5113905" cy="81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0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0AE68-3342-CC07-9CE6-E9872614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5D7A-5E85-257B-03C4-BA4E7FC5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Cryptographic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1BD2D-0A63-B885-2848-E10212483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7693"/>
            <a:ext cx="8314266" cy="4759787"/>
          </a:xfrm>
        </p:spPr>
        <p:txBody>
          <a:bodyPr>
            <a:normAutofit/>
          </a:bodyPr>
          <a:lstStyle/>
          <a:p>
            <a:r>
              <a:rPr lang="en-US" b="1" dirty="0"/>
              <a:t>expose sensitive data to attackers, such as passwords, credit card numbers, and personal identification numbers</a:t>
            </a:r>
          </a:p>
          <a:p>
            <a:endParaRPr lang="en-US" b="1" dirty="0"/>
          </a:p>
          <a:p>
            <a:r>
              <a:rPr lang="en-IN" b="1" dirty="0"/>
              <a:t>Common Reasons for broken access controls:</a:t>
            </a:r>
          </a:p>
          <a:p>
            <a:pPr lvl="1"/>
            <a:r>
              <a:rPr lang="en-US" b="1" dirty="0"/>
              <a:t>Not Using Encryption</a:t>
            </a:r>
            <a:r>
              <a:rPr lang="en-US" dirty="0"/>
              <a:t> </a:t>
            </a:r>
          </a:p>
          <a:p>
            <a:pPr lvl="1"/>
            <a:r>
              <a:rPr lang="en-US" b="1" dirty="0"/>
              <a:t>Insecure Cryptographic Functions</a:t>
            </a:r>
            <a:endParaRPr lang="en-US" dirty="0"/>
          </a:p>
          <a:p>
            <a:pPr lvl="1"/>
            <a:r>
              <a:rPr lang="en-US" b="1" dirty="0"/>
              <a:t>Improper Key Management</a:t>
            </a:r>
          </a:p>
          <a:p>
            <a:pPr lvl="1"/>
            <a:r>
              <a:rPr lang="en-US" b="1" dirty="0"/>
              <a:t>Unprotected Environment Variables</a:t>
            </a:r>
            <a:endParaRPr lang="en-US" dirty="0"/>
          </a:p>
          <a:p>
            <a:pPr lvl="2"/>
            <a:endParaRPr lang="en-IN" b="1" dirty="0"/>
          </a:p>
          <a:p>
            <a:endParaRPr lang="en-IN" b="1" dirty="0"/>
          </a:p>
          <a:p>
            <a:pPr lvl="1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66395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8130-2487-E803-6B7D-BB5FF67A4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D036C-95C2-DDB3-7EFB-0255110E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Cryptographic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B9838-32BA-AC97-EBE3-C0FE94AD4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055946" cy="5064587"/>
          </a:xfrm>
        </p:spPr>
        <p:txBody>
          <a:bodyPr/>
          <a:lstStyle/>
          <a:p>
            <a:r>
              <a:rPr lang="en-IN" b="1" dirty="0"/>
              <a:t>Mitigation:</a:t>
            </a: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dirty="0"/>
              <a:t>Use </a:t>
            </a:r>
            <a:r>
              <a:rPr lang="en-US" dirty="0" err="1"/>
              <a:t>bcrypt</a:t>
            </a:r>
            <a:r>
              <a:rPr lang="en-US" dirty="0"/>
              <a:t> for Password Hashing</a:t>
            </a: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Update the Encryption Dependencies with time</a:t>
            </a: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9F2670-8A0D-CF71-B2AE-177164ED7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198" y="2299032"/>
            <a:ext cx="4981607" cy="10207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AD9841-1181-8D51-4155-5EA684245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393" y="6088679"/>
            <a:ext cx="5255927" cy="5175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F59CEE-F374-0255-C359-AF0A1AC3D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393" y="2285951"/>
            <a:ext cx="5484112" cy="308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4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AD032-8497-4F76-9B96-DCA8EDF29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8173-F546-2778-BDF1-8E6A4945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Cryptographic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84200-FE5F-AA6C-0EDE-FE40CCFC3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9055946" cy="5064587"/>
          </a:xfrm>
        </p:spPr>
        <p:txBody>
          <a:bodyPr/>
          <a:lstStyle/>
          <a:p>
            <a:r>
              <a:rPr lang="en-IN" b="1" dirty="0"/>
              <a:t>Mitigation:</a:t>
            </a: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Hide the Environment variables in .env while development</a:t>
            </a: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</a:rPr>
              <a:t>Define Environment variables in Hosting Service</a:t>
            </a: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685800" lvl="1">
              <a:buFont typeface="Wingdings" panose="05000000000000000000" pitchFamily="2" charset="2"/>
              <a:buChar char="§"/>
            </a:pPr>
            <a:endParaRPr lang="en-US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E99529-90B9-F0A3-6AB0-9AD95A58F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77" y="2345207"/>
            <a:ext cx="6457652" cy="1977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C48070-3140-7715-7FFF-91B87C2A5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77" y="4927601"/>
            <a:ext cx="7349924" cy="170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0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123</TotalTime>
  <Words>246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Trebuchet MS</vt:lpstr>
      <vt:lpstr>Wingdings</vt:lpstr>
      <vt:lpstr>Wingdings 3</vt:lpstr>
      <vt:lpstr>Facet</vt:lpstr>
      <vt:lpstr>Securing a WebApp</vt:lpstr>
      <vt:lpstr>MERN Landscape and OWASP top 10</vt:lpstr>
      <vt:lpstr>Broken Access Control</vt:lpstr>
      <vt:lpstr>Broken Access Control</vt:lpstr>
      <vt:lpstr>Broken Access Control</vt:lpstr>
      <vt:lpstr>Broken Access Control</vt:lpstr>
      <vt:lpstr>Cryptographic Failures</vt:lpstr>
      <vt:lpstr>Cryptographic Failures</vt:lpstr>
      <vt:lpstr>Cryptographic Failures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DOodle 2523</dc:creator>
  <cp:lastModifiedBy>DOodle 2523</cp:lastModifiedBy>
  <cp:revision>3</cp:revision>
  <dcterms:created xsi:type="dcterms:W3CDTF">2025-10-28T15:24:50Z</dcterms:created>
  <dcterms:modified xsi:type="dcterms:W3CDTF">2025-11-06T14:20:48Z</dcterms:modified>
</cp:coreProperties>
</file>