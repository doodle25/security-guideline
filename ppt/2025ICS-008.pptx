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demo/vuln/find?q=%7b%22email%22:%7b%22$ne%22:&#8220;pdipen@gmail.com%22%7d%7d" TargetMode="External"/><Relationship Id="rId2" Type="http://schemas.openxmlformats.org/officeDocument/2006/relationships/hyperlink" Target="http://localhost:5000/demo/find?q=%7b&#8220;email&#8221;:&#8221;name@email.com&#8221;%7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5000/demo/vuln/find?q=%7b%22email%22:%7b%22$ne%22:%22something%22%7d%7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1E52-A6E0-C3B3-26EC-7136D22CF4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Securing a WebApp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373A6-0C84-17DF-C4F6-92915052D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Prepared by Dipen Patel                     </a:t>
            </a:r>
          </a:p>
          <a:p>
            <a:r>
              <a:rPr lang="en-IN" dirty="0"/>
              <a:t>2025ICS-008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530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5795-DA8D-A8AB-BA9C-CDD5BFFB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MERN Landscape and OWASP top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06097-1FAA-60DF-39A4-D76DDCB0C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213426" cy="5064587"/>
          </a:xfrm>
        </p:spPr>
        <p:txBody>
          <a:bodyPr/>
          <a:lstStyle/>
          <a:p>
            <a:r>
              <a:rPr lang="en-IN" b="1" dirty="0"/>
              <a:t>MERN Landscape:</a:t>
            </a:r>
            <a:r>
              <a:rPr lang="en-IN" dirty="0"/>
              <a:t> Frontend(React), Backend(Node/Express), Database(MongoDB), Service(Azure)</a:t>
            </a:r>
          </a:p>
          <a:p>
            <a:r>
              <a:rPr lang="en-IN" b="1" dirty="0"/>
              <a:t>WebApp: </a:t>
            </a:r>
            <a:r>
              <a:rPr lang="en-IN" dirty="0"/>
              <a:t>CRM(Customer Relationship Management)</a:t>
            </a:r>
          </a:p>
          <a:p>
            <a:r>
              <a:rPr lang="en-IN" b="1" dirty="0"/>
              <a:t>OWASP Top 10: </a:t>
            </a:r>
            <a:r>
              <a:rPr lang="en-IN" dirty="0"/>
              <a:t>List of critical web security risks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Approach: </a:t>
            </a:r>
            <a:r>
              <a:rPr lang="en-IN" dirty="0"/>
              <a:t>Address a risk and implement a Security Solution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BE61A-973F-F9FC-1154-0E8934368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227842"/>
            <a:ext cx="8202170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9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4B62-86F6-5F90-D4F9-30FD1FBC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62F8-F5E3-EA1C-FA31-790D7136C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759787"/>
          </a:xfrm>
        </p:spPr>
        <p:txBody>
          <a:bodyPr/>
          <a:lstStyle/>
          <a:p>
            <a:r>
              <a:rPr lang="en-IN" b="1" dirty="0"/>
              <a:t>Access Control: </a:t>
            </a:r>
            <a:r>
              <a:rPr lang="en-IN" dirty="0"/>
              <a:t>Who cam perform which action or access which resources</a:t>
            </a:r>
          </a:p>
          <a:p>
            <a:r>
              <a:rPr lang="en-IN" b="1" dirty="0"/>
              <a:t>Examples of broken access controls:</a:t>
            </a:r>
          </a:p>
          <a:p>
            <a:pPr lvl="1"/>
            <a:r>
              <a:rPr lang="en-IN" b="1" dirty="0"/>
              <a:t>Vertical privilege escalation </a:t>
            </a:r>
          </a:p>
          <a:p>
            <a:pPr marL="914400" lvl="2" indent="0">
              <a:buNone/>
            </a:pPr>
            <a:r>
              <a:rPr lang="en-IN" dirty="0"/>
              <a:t>a low level user gains admin functions</a:t>
            </a:r>
          </a:p>
          <a:p>
            <a:pPr lvl="1"/>
            <a:r>
              <a:rPr lang="en-IN" b="1" dirty="0"/>
              <a:t>Horizontal privilege escalation</a:t>
            </a:r>
          </a:p>
          <a:p>
            <a:pPr marL="914400" lvl="2" indent="0">
              <a:buNone/>
            </a:pPr>
            <a:r>
              <a:rPr lang="en-IN" dirty="0"/>
              <a:t>A user accesses another same level users resources</a:t>
            </a:r>
          </a:p>
          <a:p>
            <a:r>
              <a:rPr lang="en-IN" b="1" dirty="0"/>
              <a:t>Common Reasons for broken access controls:</a:t>
            </a:r>
          </a:p>
          <a:p>
            <a:pPr lvl="1"/>
            <a:r>
              <a:rPr lang="en-IN" b="1" dirty="0"/>
              <a:t>Unprotected functionality | Endpoint</a:t>
            </a:r>
          </a:p>
          <a:p>
            <a:pPr lvl="1"/>
            <a:endParaRPr lang="en-IN" b="1" dirty="0"/>
          </a:p>
          <a:p>
            <a:pPr lvl="1"/>
            <a:endParaRPr lang="en-IN" b="1" dirty="0"/>
          </a:p>
          <a:p>
            <a:pPr lvl="1"/>
            <a:r>
              <a:rPr lang="en-IN" b="1" dirty="0"/>
              <a:t>Lack of Authentication and Request Validation</a:t>
            </a:r>
          </a:p>
          <a:p>
            <a:pPr lvl="1"/>
            <a:r>
              <a:rPr lang="en-IN" b="1" dirty="0"/>
              <a:t>No proper User structure</a:t>
            </a:r>
          </a:p>
          <a:p>
            <a:pPr lvl="2"/>
            <a:endParaRPr lang="en-IN" b="1" dirty="0"/>
          </a:p>
          <a:p>
            <a:endParaRPr lang="en-IN" b="1" dirty="0"/>
          </a:p>
          <a:p>
            <a:pPr lvl="1"/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3F241-B97B-118B-3518-8570CD9F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07" b="93726"/>
          <a:stretch>
            <a:fillRect/>
          </a:stretch>
        </p:blipFill>
        <p:spPr>
          <a:xfrm>
            <a:off x="1299571" y="4475276"/>
            <a:ext cx="6561001" cy="71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7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5A962-D43F-8F5F-B9FC-6477CCD2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969A9-2458-2D00-9664-93079330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4834-BE0B-1F65-46A7-92FD216AB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7597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Well defined Role-Based Access Control (RBAC)</a:t>
            </a:r>
          </a:p>
          <a:p>
            <a:endParaRPr lang="en-IN" b="1" dirty="0"/>
          </a:p>
          <a:p>
            <a:pPr lvl="1"/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BBB1F-C0CA-F777-7385-087987B89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2720428"/>
            <a:ext cx="6614160" cy="3317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852DB8-29A2-98A3-453E-A5B58AE17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444" y="609600"/>
            <a:ext cx="2270116" cy="5452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73234-3773-B49B-9F2E-ACF14F4BD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494" y="1761672"/>
            <a:ext cx="1821980" cy="428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9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BA7B-9F62-0335-D762-BE8AA89C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B53B-3B9E-2FB5-CC03-D3BF5C3B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A36EF-5DC9-42F4-2CDF-7DEE34BB1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4629"/>
            <a:ext cx="8596668" cy="47597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Make use of Tokens to validate the user roles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b="1" dirty="0"/>
          </a:p>
          <a:p>
            <a:pPr lvl="1"/>
            <a:endParaRPr lang="en-IN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5D968C-9EA8-9E83-9A80-90FEE4404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17" y="2202909"/>
            <a:ext cx="3445422" cy="7433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856333-1145-2949-D204-0D4AAFCF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17" y="3115310"/>
            <a:ext cx="7787145" cy="36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4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38CC-E814-2DC7-3CD0-CB6B957C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5A23-24CC-F001-1452-30DD085B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A6E5C-CA7C-4410-7318-304542B1D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55946" cy="50645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</a:rPr>
              <a:t>Middleware for role checks and permission checks(Make sure all endpoints are covered)</a:t>
            </a: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50375-62D7-1B1C-7CD0-5BD105AFC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6" y="2467277"/>
            <a:ext cx="5728300" cy="3373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D797F9-9DC3-4FCB-07D1-A762D0A4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821" y="2467277"/>
            <a:ext cx="5149179" cy="2137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EE5A57-F98D-713D-378C-934DE41FA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461" y="5030338"/>
            <a:ext cx="5113905" cy="81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0AE68-3342-CC07-9CE6-E9872614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5D7A-5E85-257B-03C4-BA4E7FC5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Cryptographic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1BD2D-0A63-B885-2848-E10212483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7693"/>
            <a:ext cx="8314266" cy="4759787"/>
          </a:xfrm>
        </p:spPr>
        <p:txBody>
          <a:bodyPr>
            <a:normAutofit/>
          </a:bodyPr>
          <a:lstStyle/>
          <a:p>
            <a:r>
              <a:rPr lang="en-US" b="1" dirty="0"/>
              <a:t>expose sensitive data to attackers, such as passwords, credit card numbers, and personal identification numbers</a:t>
            </a:r>
          </a:p>
          <a:p>
            <a:endParaRPr lang="en-US" b="1" dirty="0"/>
          </a:p>
          <a:p>
            <a:r>
              <a:rPr lang="en-IN" b="1" dirty="0"/>
              <a:t>Common Reasons for broken access controls:</a:t>
            </a:r>
          </a:p>
          <a:p>
            <a:pPr lvl="1"/>
            <a:r>
              <a:rPr lang="en-US" b="1" dirty="0"/>
              <a:t>Not Using Encryption</a:t>
            </a:r>
            <a:r>
              <a:rPr lang="en-US" dirty="0"/>
              <a:t> </a:t>
            </a:r>
          </a:p>
          <a:p>
            <a:pPr lvl="1"/>
            <a:r>
              <a:rPr lang="en-US" b="1" dirty="0"/>
              <a:t>Insecure Cryptographic Functions</a:t>
            </a:r>
            <a:endParaRPr lang="en-US" dirty="0"/>
          </a:p>
          <a:p>
            <a:pPr lvl="1"/>
            <a:r>
              <a:rPr lang="en-US" b="1" dirty="0"/>
              <a:t>Improper Key Management</a:t>
            </a:r>
          </a:p>
          <a:p>
            <a:pPr lvl="1"/>
            <a:r>
              <a:rPr lang="en-US" b="1" dirty="0"/>
              <a:t>Unprotected Environment Variables</a:t>
            </a:r>
            <a:endParaRPr lang="en-US" dirty="0"/>
          </a:p>
          <a:p>
            <a:pPr lvl="2"/>
            <a:endParaRPr lang="en-IN" b="1" dirty="0"/>
          </a:p>
          <a:p>
            <a:endParaRPr lang="en-IN" b="1" dirty="0"/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6639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8130-2487-E803-6B7D-BB5FF67A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036C-95C2-DDB3-7EFB-0255110E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Cryptographic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B9838-32BA-AC97-EBE3-C0FE94AD4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55946" cy="50645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dirty="0"/>
              <a:t>Use </a:t>
            </a:r>
            <a:r>
              <a:rPr lang="en-US" dirty="0" err="1"/>
              <a:t>bcrypt</a:t>
            </a:r>
            <a:r>
              <a:rPr lang="en-US" dirty="0"/>
              <a:t> for Password Hashing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Update the Encryption Dependencies with time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9F2670-8A0D-CF71-B2AE-177164ED7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198" y="2299032"/>
            <a:ext cx="4981607" cy="1020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AD9841-1181-8D51-4155-5EA684245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93" y="6088679"/>
            <a:ext cx="5255927" cy="517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59CEE-F374-0255-C359-AF0A1AC3D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393" y="2285951"/>
            <a:ext cx="5484112" cy="30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4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AD032-8497-4F76-9B96-DCA8EDF2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8173-F546-2778-BDF1-8E6A4945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Cryptographic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84200-FE5F-AA6C-0EDE-FE40CCFC3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55946" cy="50645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Hide the Environment variables in .env while development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Define Environment variables in Hosting Service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99529-90B9-F0A3-6AB0-9AD95A58F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77" y="2345207"/>
            <a:ext cx="6457652" cy="1977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C48070-3140-7715-7FFF-91B87C2A5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77" y="4927601"/>
            <a:ext cx="7349924" cy="170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0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87D26-E971-D574-ACDC-2E99EF0D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2FB8-D859-9FD9-C9EF-52525923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Injection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BFBAF-8971-8F77-4070-132FECA35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7693"/>
            <a:ext cx="8314266" cy="4759787"/>
          </a:xfrm>
        </p:spPr>
        <p:txBody>
          <a:bodyPr>
            <a:normAutofit/>
          </a:bodyPr>
          <a:lstStyle/>
          <a:p>
            <a:pPr eaLnBrk="0" fontAlgn="base" hangingPunct="0"/>
            <a:r>
              <a:rPr lang="en-US" b="1" dirty="0"/>
              <a:t>Threat</a:t>
            </a:r>
            <a:r>
              <a:rPr lang="en-US" dirty="0"/>
              <a:t>: SQL Injection allows attackers to manipulate a website’s database, potentially exposing, altering, or deleting sensitive data</a:t>
            </a:r>
          </a:p>
          <a:p>
            <a:pPr marL="400050" lvl="1" indent="0" eaLnBrk="0" fontAlgn="base" hangingPunct="0">
              <a:buNone/>
            </a:pPr>
            <a:r>
              <a:rPr lang="en-US" dirty="0">
                <a:hlinkClick r:id="rId2"/>
              </a:rPr>
              <a:t>http://localhost:5000/demo/</a:t>
            </a:r>
            <a:r>
              <a:rPr lang="en-US" dirty="0" err="1">
                <a:hlinkClick r:id="rId2"/>
              </a:rPr>
              <a:t>find?q</a:t>
            </a:r>
            <a:r>
              <a:rPr lang="en-US" dirty="0">
                <a:hlinkClick r:id="rId2"/>
              </a:rPr>
              <a:t>={“</a:t>
            </a:r>
            <a:r>
              <a:rPr lang="en-US" dirty="0" err="1">
                <a:hlinkClick r:id="rId2"/>
              </a:rPr>
              <a:t>email”:”name@email.com</a:t>
            </a:r>
            <a:r>
              <a:rPr lang="en-US" dirty="0">
                <a:hlinkClick r:id="rId2"/>
              </a:rPr>
              <a:t>”}</a:t>
            </a:r>
            <a:endParaRPr lang="en-US" dirty="0"/>
          </a:p>
          <a:p>
            <a:pPr marL="400050" lvl="1" indent="0" eaLnBrk="0" fontAlgn="base" hangingPunct="0">
              <a:buNone/>
            </a:pPr>
            <a:endParaRPr lang="en-US" dirty="0"/>
          </a:p>
          <a:p>
            <a:pPr marL="400050" lvl="1" indent="0" eaLnBrk="0" fontAlgn="base" hangingPunct="0">
              <a:buNone/>
            </a:pPr>
            <a:r>
              <a:rPr lang="en-US" dirty="0"/>
              <a:t>{"username": { "$ne": null },</a:t>
            </a:r>
            <a:endParaRPr lang="en-IN" dirty="0"/>
          </a:p>
          <a:p>
            <a:pPr marL="400050" lvl="1" indent="0" eaLnBrk="0" fontAlgn="base" hangingPunct="0">
              <a:buNone/>
            </a:pPr>
            <a:r>
              <a:rPr lang="en-US" dirty="0"/>
              <a:t>"password": { "$ne": null }}</a:t>
            </a:r>
          </a:p>
          <a:p>
            <a:pPr marL="400050" lvl="1" indent="0" eaLnBrk="0" fontAlgn="base" hangingPunct="0">
              <a:buNone/>
            </a:pPr>
            <a:endParaRPr lang="en-IN" dirty="0"/>
          </a:p>
          <a:p>
            <a:pPr marL="400050" lvl="1" indent="0" eaLnBrk="0" fontAlgn="base" hangingPunct="0">
              <a:buNone/>
            </a:pPr>
            <a:r>
              <a:rPr lang="en-IN" dirty="0">
                <a:hlinkClick r:id="rId3"/>
              </a:rPr>
              <a:t>http://localhost:5000/demo/vuln/find?q={"email":{"$</a:t>
            </a:r>
            <a:r>
              <a:rPr lang="en-IN" dirty="0" err="1">
                <a:hlinkClick r:id="rId3"/>
              </a:rPr>
              <a:t>ne":“pdipen@gmail.com</a:t>
            </a:r>
            <a:r>
              <a:rPr lang="en-IN" dirty="0">
                <a:hlinkClick r:id="rId3"/>
              </a:rPr>
              <a:t>"}}</a:t>
            </a:r>
            <a:endParaRPr lang="en-IN" dirty="0"/>
          </a:p>
          <a:p>
            <a:pPr marL="400050" lvl="1" indent="0" eaLnBrk="0" fontAlgn="base" hangingPunct="0">
              <a:buNone/>
            </a:pPr>
            <a:r>
              <a:rPr lang="en-IN" dirty="0">
                <a:hlinkClick r:id="rId4"/>
              </a:rPr>
              <a:t>http://localhost:5000/demo/vuln/find?q={"email":{"$ne":"something"}}</a:t>
            </a:r>
            <a:endParaRPr lang="en-IN" dirty="0"/>
          </a:p>
          <a:p>
            <a:pPr marL="400050" lvl="1" indent="0" eaLnBrk="0" fontAlgn="base" hangingPunc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83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4E75-FE0B-CC9B-2570-80C0BDB6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7304-EEC0-CC32-6818-E53A9070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Injection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8A6A8-6012-8306-EA69-99146BA40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55946" cy="50645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Use ORM(</a:t>
            </a:r>
            <a:r>
              <a:rPr lang="en-IN" dirty="0"/>
              <a:t>Object-Relational Mapper</a:t>
            </a:r>
            <a:r>
              <a:rPr lang="en-US" dirty="0"/>
              <a:t>) and drivers which Sanitize Database Queries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dirty="0"/>
              <a:t>Mongoose acts as an Object Data Modeling (ODM) library for MongoDB, automatically escapes and validates input data, reducing the risk of NoSQL injection.</a:t>
            </a: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400050" lvl="1" indent="0">
              <a:buNone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Input sanitization before running a database query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DECCAD-D9A1-18DF-738C-1BC8D1268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785934"/>
            <a:ext cx="8596668" cy="269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4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2457-9FA7-8F59-D851-EA4CC3F5C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7F0A-F3D0-AC93-5C0E-E21F9FA3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Vulnerable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AAE10-AB7F-83E2-8485-84A423F9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7693"/>
            <a:ext cx="8314266" cy="4759787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altLang="en-US" dirty="0">
                <a:latin typeface="Arial" panose="020B0604020202020204" pitchFamily="34" charset="0"/>
              </a:rPr>
              <a:t>: Outdated libraries or OS vulnerabilities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Do regular dependency audits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dirty="0"/>
              <a:t>Make use of tools such as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dependabot</a:t>
            </a:r>
            <a:endParaRPr lang="en-US" dirty="0"/>
          </a:p>
          <a:p>
            <a:pPr marL="400050" lvl="1" indent="0" eaLnBrk="0" fontAlgn="base" hangingPunc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E502C-1711-E742-C3D8-EB213D551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64" y="4210063"/>
            <a:ext cx="5744377" cy="2124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899AED-4A09-D521-BA5D-3F206132F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683" y="2698458"/>
            <a:ext cx="5357747" cy="363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3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CFF9E-DCC6-B2A1-181B-E051EC72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199A-94AB-E542-01E2-895962F3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Authentication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B9373-0A4C-D83E-17D6-D70F53854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55946" cy="506458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/>
              <a:t>I</a:t>
            </a:r>
            <a:r>
              <a:rPr lang="en-US" dirty="0"/>
              <a:t>nsufficient validation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dirty="0"/>
              <a:t>Stolen/long-lived tokens, token replay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b="1" dirty="0">
              <a:latin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Make use of authentication Tokens for sessions.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Short access token lifetime (e.g., 5–15 minutes) and use refresh tokens for sessions.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Store tokens securely: keep access tokens out of </a:t>
            </a:r>
            <a:r>
              <a:rPr lang="en-US" dirty="0" err="1"/>
              <a:t>localStorage</a:t>
            </a:r>
            <a:r>
              <a:rPr lang="en-US" dirty="0"/>
              <a:t>; prefer </a:t>
            </a:r>
            <a:r>
              <a:rPr lang="en-US" dirty="0" err="1"/>
              <a:t>HttpOnly</a:t>
            </a:r>
            <a:r>
              <a:rPr lang="en-US" dirty="0"/>
              <a:t>, Secure, </a:t>
            </a:r>
            <a:r>
              <a:rPr lang="en-US" dirty="0" err="1"/>
              <a:t>SameSite</a:t>
            </a:r>
            <a:r>
              <a:rPr lang="en-US" dirty="0"/>
              <a:t> cookies.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BE11B-3998-1526-95AD-4144539C1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408" y="5034517"/>
            <a:ext cx="3381375" cy="1019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C39982-03F7-7DDC-39D1-80D0F2973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6" y="4800398"/>
            <a:ext cx="5201376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6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3A91-24C1-80AE-C72C-37203462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saw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C259-8875-4CA2-7074-1DDCD95D9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1069"/>
            <a:ext cx="8596668" cy="4520293"/>
          </a:xfrm>
        </p:spPr>
        <p:txBody>
          <a:bodyPr>
            <a:normAutofit/>
          </a:bodyPr>
          <a:lstStyle/>
          <a:p>
            <a:pPr eaLnBrk="0" fontAlgn="base" hangingPunct="0"/>
            <a:r>
              <a:rPr lang="en-US" b="1" dirty="0"/>
              <a:t>Importance of Security Guideline</a:t>
            </a:r>
            <a:r>
              <a:rPr lang="en-US" dirty="0"/>
              <a:t>: Secure System Design with a proper Security Guideline from the start of development is better the patching every issue afterwards </a:t>
            </a:r>
            <a:endParaRPr lang="en-IN" dirty="0"/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Security isn’t a feature — it’s a continuous practice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11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012F-B149-C304-A371-8851D155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FE973-5DAE-7751-AB13-749E5E503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1069"/>
            <a:ext cx="8596668" cy="4520293"/>
          </a:xfrm>
        </p:spPr>
        <p:txBody>
          <a:bodyPr>
            <a:noAutofit/>
          </a:bodyPr>
          <a:lstStyle/>
          <a:p>
            <a:pPr marL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orbel" panose="020B0503020204020204" pitchFamily="34" charset="0"/>
              </a:rPr>
              <a:t>Thank you</a:t>
            </a:r>
          </a:p>
          <a:p>
            <a:pPr marL="0" algn="ctr">
              <a:buNone/>
            </a:pPr>
            <a:endParaRPr lang="en-US" sz="4000" b="1" dirty="0">
              <a:solidFill>
                <a:srgbClr val="FFFFFF"/>
              </a:solidFill>
              <a:latin typeface="Corbel" panose="020B0503020204020204" pitchFamily="34" charset="0"/>
            </a:endParaRPr>
          </a:p>
          <a:p>
            <a:pPr marL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orbel" panose="020B0503020204020204" pitchFamily="34" charset="0"/>
              </a:rPr>
              <a:t>Prepared by Dipen P. Patel (2025ICS-008)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3572500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153</TotalTime>
  <Words>535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Corbel</vt:lpstr>
      <vt:lpstr>Trebuchet MS</vt:lpstr>
      <vt:lpstr>Wingdings</vt:lpstr>
      <vt:lpstr>Wingdings 3</vt:lpstr>
      <vt:lpstr>Facet</vt:lpstr>
      <vt:lpstr>Securing a WebApp</vt:lpstr>
      <vt:lpstr>MERN Landscape and OWASP top 10</vt:lpstr>
      <vt:lpstr>Broken Access Control</vt:lpstr>
      <vt:lpstr>Broken Access Control</vt:lpstr>
      <vt:lpstr>Broken Access Control</vt:lpstr>
      <vt:lpstr>Broken Access Control</vt:lpstr>
      <vt:lpstr>Cryptographic Failures</vt:lpstr>
      <vt:lpstr>Cryptographic Failures</vt:lpstr>
      <vt:lpstr>Cryptographic Failures</vt:lpstr>
      <vt:lpstr>Injection Attacks</vt:lpstr>
      <vt:lpstr>Injection Attacks</vt:lpstr>
      <vt:lpstr>Vulnerable Components</vt:lpstr>
      <vt:lpstr>Authentication Failures</vt:lpstr>
      <vt:lpstr>What we saw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DOodle 2523</dc:creator>
  <cp:lastModifiedBy>DOodle 2523</cp:lastModifiedBy>
  <cp:revision>7</cp:revision>
  <dcterms:created xsi:type="dcterms:W3CDTF">2025-10-28T15:24:50Z</dcterms:created>
  <dcterms:modified xsi:type="dcterms:W3CDTF">2025-11-09T12:19:02Z</dcterms:modified>
</cp:coreProperties>
</file>