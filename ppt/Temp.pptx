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67" r:id="rId4"/>
    <p:sldId id="271" r:id="rId5"/>
    <p:sldId id="270" r:id="rId6"/>
    <p:sldId id="272" r:id="rId7"/>
    <p:sldId id="273" r:id="rId8"/>
    <p:sldId id="274" r:id="rId9"/>
    <p:sldId id="275" r:id="rId10"/>
    <p:sldId id="276" r:id="rId11"/>
    <p:sldId id="268" r:id="rId12"/>
    <p:sldId id="277" r:id="rId13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599" autoAdjust="0"/>
  </p:normalViewPr>
  <p:slideViewPr>
    <p:cSldViewPr>
      <p:cViewPr varScale="1">
        <p:scale>
          <a:sx n="87" d="100"/>
          <a:sy n="87" d="100"/>
        </p:scale>
        <p:origin x="485" y="58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10/24/2025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10/24/2025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237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6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10/24/2025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5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10/24/2025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8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10/24/2025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0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10/24/2025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6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10/24/2025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10/24/2025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grpSp>
        <p:nvGrpSpPr>
          <p:cNvPr id="615" name="frame" descr="Box graphic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10/24/2025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614" name="frame" descr="Box graphic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10/24/2025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10/24/2025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10/24/2025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10/24/2025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Securing a WebApp: Defending OWASP Top10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7908" y="5013176"/>
            <a:ext cx="9143999" cy="1066800"/>
          </a:xfrm>
        </p:spPr>
        <p:txBody>
          <a:bodyPr/>
          <a:lstStyle/>
          <a:p>
            <a:r>
              <a:rPr lang="en-IN" dirty="0"/>
              <a:t>Prepared by Dipen Patel                     2025ICS-008</a:t>
            </a: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the MERN Security Landscape and OWASP top 10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522414" y="1905000"/>
            <a:ext cx="9144000" cy="587896"/>
          </a:xfrm>
        </p:spPr>
        <p:txBody>
          <a:bodyPr>
            <a:normAutofit/>
          </a:bodyPr>
          <a:lstStyle/>
          <a:p>
            <a:r>
              <a:rPr lang="en-US" b="1" dirty="0"/>
              <a:t>OWASP Top 10 (2021): </a:t>
            </a:r>
            <a:r>
              <a:rPr lang="en-US" dirty="0"/>
              <a:t>List of critical web security risks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201A3F-9E9A-4B1A-5207-243A45EE8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916" y="2348880"/>
            <a:ext cx="8202170" cy="23244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D82E86-4E85-D35B-3037-208B635E0048}"/>
              </a:ext>
            </a:extLst>
          </p:cNvPr>
          <p:cNvSpPr txBox="1"/>
          <p:nvPr/>
        </p:nvSpPr>
        <p:spPr>
          <a:xfrm>
            <a:off x="1522414" y="4869160"/>
            <a:ext cx="85324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>
                <a:cs typeface="Arial" panose="020B0604020202020204" pitchFamily="34" charset="0"/>
              </a:rPr>
              <a:t>WebApp</a:t>
            </a:r>
            <a:r>
              <a:rPr lang="en-US" sz="2400" dirty="0">
                <a:cs typeface="Arial" panose="020B0604020202020204" pitchFamily="34" charset="0"/>
              </a:rPr>
              <a:t>: Frontend (React), Backend (Node/Express), Database (MongoDB)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>
                <a:cs typeface="Arial" panose="020B0604020202020204" pitchFamily="34" charset="0"/>
              </a:rPr>
              <a:t>Approach:</a:t>
            </a:r>
            <a:r>
              <a:rPr lang="en-US" sz="2400" dirty="0">
                <a:cs typeface="Arial" panose="020B0604020202020204" pitchFamily="34" charset="0"/>
              </a:rPr>
              <a:t> Address each OWASP risk with MERN-specific defenses guided by Security Guideline.</a:t>
            </a:r>
          </a:p>
        </p:txBody>
      </p:sp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05623"/>
            <a:ext cx="9143998" cy="1020762"/>
          </a:xfrm>
        </p:spPr>
        <p:txBody>
          <a:bodyPr/>
          <a:lstStyle/>
          <a:p>
            <a:r>
              <a:rPr lang="en-IN" dirty="0"/>
              <a:t>Broken Access Control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2F3D97-6FCE-5F72-4648-9611F580503F}"/>
              </a:ext>
            </a:extLst>
          </p:cNvPr>
          <p:cNvSpPr txBox="1"/>
          <p:nvPr/>
        </p:nvSpPr>
        <p:spPr>
          <a:xfrm>
            <a:off x="1522414" y="1535668"/>
            <a:ext cx="73803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Threat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Users bypass permissions or access others’ data using their credentials or open endpoints 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b="1" dirty="0">
                <a:latin typeface="Arial" panose="020B0604020202020204" pitchFamily="34" charset="0"/>
              </a:rPr>
              <a:t>Mitigation</a:t>
            </a:r>
            <a:r>
              <a:rPr lang="en-US" altLang="en-US" dirty="0">
                <a:latin typeface="Arial" panose="020B0604020202020204" pitchFamily="34" charset="0"/>
              </a:rPr>
              <a:t>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</a:rPr>
              <a:t>Role-Based Access Control (RBAC)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669D5A-0D55-5E13-3C9B-76C4E9E73E02}"/>
              </a:ext>
            </a:extLst>
          </p:cNvPr>
          <p:cNvSpPr txBox="1"/>
          <p:nvPr/>
        </p:nvSpPr>
        <p:spPr>
          <a:xfrm>
            <a:off x="1522413" y="1125542"/>
            <a:ext cx="6141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Preventing Unauthorized Access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7A4177C-C20D-825F-4D30-4B5732A0FE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4612" y="2436333"/>
            <a:ext cx="1821980" cy="428642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65BC4FD-0F4B-D676-001A-0365AB2D69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844" y="1828501"/>
            <a:ext cx="2039436" cy="48980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AE8C93-94BA-950E-64FC-9AE3960C82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796" y="3250011"/>
            <a:ext cx="6923825" cy="347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80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F80EF-6440-1BA2-64F6-21028600F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BD366-B83B-D590-D4D8-CE7260FE1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Broken Access Control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DAE797-4900-10F2-050E-D1B0BF2A6519}"/>
              </a:ext>
            </a:extLst>
          </p:cNvPr>
          <p:cNvSpPr txBox="1"/>
          <p:nvPr/>
        </p:nvSpPr>
        <p:spPr>
          <a:xfrm>
            <a:off x="1522414" y="162880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en-US" sz="1800" b="1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Mitigation</a:t>
            </a:r>
            <a:r>
              <a:rPr lang="en-US" sz="1800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: </a:t>
            </a:r>
            <a:endParaRPr lang="en-IN" dirty="0">
              <a:effectLst/>
            </a:endParaRPr>
          </a:p>
          <a:p>
            <a:pPr marL="285750" indent="-285750" algn="l" rtl="0" eaLnBrk="1" latinLnBrk="0" hangingPunct="1">
              <a:buFont typeface="Wingdings" panose="05000000000000000000" pitchFamily="2" charset="2"/>
              <a:buChar char="§"/>
            </a:pPr>
            <a:r>
              <a:rPr lang="en-US" sz="1800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Middleware for role checks and permission checks</a:t>
            </a:r>
            <a:endParaRPr lang="en-IN" dirty="0">
              <a:effectLst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0FF56A-59AC-98C7-C986-B973BD88B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9" y="2478873"/>
            <a:ext cx="5624502" cy="33123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424FC4F-30F7-D568-C906-4EB7FC9A4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452" y="2341091"/>
            <a:ext cx="5400649" cy="22417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46CB5C8-59B9-4A07-9694-94658B1A7E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3413" y="4869160"/>
            <a:ext cx="5624503" cy="89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601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12DA6-AC00-831D-21CB-34EB7D556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Broken Access Control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608F42-6B6D-354B-DC71-54C510ECF141}"/>
              </a:ext>
            </a:extLst>
          </p:cNvPr>
          <p:cNvSpPr txBox="1"/>
          <p:nvPr/>
        </p:nvSpPr>
        <p:spPr>
          <a:xfrm>
            <a:off x="1522414" y="162880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en-US" sz="1800" b="1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Mitigation</a:t>
            </a:r>
            <a:r>
              <a:rPr lang="en-US" sz="1800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: </a:t>
            </a:r>
            <a:endParaRPr lang="en-IN" dirty="0">
              <a:effectLst/>
            </a:endParaRPr>
          </a:p>
          <a:p>
            <a:pPr marL="285750" indent="-285750" algn="l" rtl="0" eaLnBrk="1" latinLnBrk="0" hangingPunct="1">
              <a:buFont typeface="Wingdings" panose="05000000000000000000" pitchFamily="2" charset="2"/>
              <a:buChar char="§"/>
            </a:pPr>
            <a:r>
              <a:rPr lang="en-US" sz="1800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Make sure all endpoints are secure</a:t>
            </a:r>
            <a:endParaRPr lang="en-IN" dirty="0">
              <a:effectLst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FE038C1-C212-AB14-1CE8-AC9648644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191" y="4896449"/>
            <a:ext cx="7189410" cy="11393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FF444A-B5E6-E60D-DB5F-20AA5A9D3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191" y="2597235"/>
            <a:ext cx="7383107" cy="17299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3EE7EF6-2BE9-BD8B-0F2F-DA6465A846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8708" y="1652528"/>
            <a:ext cx="2877624" cy="485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626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0F249-84CD-E714-E41E-54D615B32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48544-8438-DD4A-1710-45B1EAF2C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Broken Access Control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E028CB-2258-D0E6-ABC8-78AB4EC3EB3C}"/>
              </a:ext>
            </a:extLst>
          </p:cNvPr>
          <p:cNvSpPr txBox="1"/>
          <p:nvPr/>
        </p:nvSpPr>
        <p:spPr>
          <a:xfrm>
            <a:off x="1522414" y="1628800"/>
            <a:ext cx="65209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en-US" sz="1800" b="1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Mitigation</a:t>
            </a:r>
            <a:r>
              <a:rPr lang="en-US" sz="1800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: </a:t>
            </a:r>
            <a:endParaRPr lang="en-IN" dirty="0">
              <a:effectLst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Integrate </a:t>
            </a:r>
            <a:r>
              <a:rPr lang="en-US" b="1" dirty="0"/>
              <a:t>Multi-Factor Authentication (MFA)</a:t>
            </a:r>
            <a:r>
              <a:rPr lang="en-US" dirty="0"/>
              <a:t> for information verification and </a:t>
            </a:r>
            <a:r>
              <a:rPr lang="en-US" b="1" dirty="0"/>
              <a:t>privilege escalation</a:t>
            </a:r>
            <a:endParaRPr lang="en-IN" dirty="0"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1230F8-CD69-00DC-0194-7F4EC2B9DC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460" y="2708920"/>
            <a:ext cx="7001376" cy="39940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8037E2-35C6-DE20-6495-DA792B19E9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835" y="1700808"/>
            <a:ext cx="2844825" cy="31285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94DA3CA-5B75-1FDD-D0F3-8ADBE6508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9428" y="5013176"/>
            <a:ext cx="3995641" cy="168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766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5E429-0164-09D1-5AA2-6A4C4AB5B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8CEA1-0182-6868-199E-C87EF41AC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05623"/>
            <a:ext cx="9143998" cy="1020762"/>
          </a:xfrm>
        </p:spPr>
        <p:txBody>
          <a:bodyPr/>
          <a:lstStyle/>
          <a:p>
            <a:r>
              <a:rPr lang="en-IN" dirty="0"/>
              <a:t>Cryptographic Failures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E9C679-17C6-C922-D887-4216FCB13BC6}"/>
              </a:ext>
            </a:extLst>
          </p:cNvPr>
          <p:cNvSpPr txBox="1"/>
          <p:nvPr/>
        </p:nvSpPr>
        <p:spPr>
          <a:xfrm>
            <a:off x="1522414" y="1535668"/>
            <a:ext cx="73803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Threat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dirty="0">
                <a:latin typeface="Arial" panose="020B0604020202020204" pitchFamily="34" charset="0"/>
              </a:rPr>
              <a:t>Sensitive data exposure via weak encryption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b="1" dirty="0">
                <a:latin typeface="Arial" panose="020B0604020202020204" pitchFamily="34" charset="0"/>
              </a:rPr>
              <a:t>Mitigation</a:t>
            </a:r>
            <a:r>
              <a:rPr lang="en-US" altLang="en-US" dirty="0">
                <a:latin typeface="Arial" panose="020B0604020202020204" pitchFamily="34" charset="0"/>
              </a:rPr>
              <a:t>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Hash passwords with </a:t>
            </a:r>
            <a:r>
              <a:rPr lang="en-IN" dirty="0" err="1"/>
              <a:t>bcrypt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Store secrets in .env rather than encrypting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D066DF-DAF8-0DBE-F015-E89184CDB162}"/>
              </a:ext>
            </a:extLst>
          </p:cNvPr>
          <p:cNvSpPr txBox="1"/>
          <p:nvPr/>
        </p:nvSpPr>
        <p:spPr>
          <a:xfrm>
            <a:off x="1522413" y="1124744"/>
            <a:ext cx="61414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Securing Data in Transit and at Rest</a:t>
            </a:r>
            <a:br>
              <a:rPr lang="en-US" dirty="0"/>
            </a:b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7904F1-39CD-ABE7-598F-5CC45933D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517" y="3621165"/>
            <a:ext cx="4968552" cy="27935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E9FD96-7EB4-C720-4C29-B1ADEF418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508" y="2296319"/>
            <a:ext cx="4981607" cy="10207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73E2F6C-10E5-7962-8FC1-0834DFFB7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72" y="4333524"/>
            <a:ext cx="6457652" cy="197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306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718F3-B8F0-7959-AE1C-9E853E4AF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1B55-47AC-6EB4-4F10-4EDB6A5D8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05623"/>
            <a:ext cx="9143998" cy="1020762"/>
          </a:xfrm>
        </p:spPr>
        <p:txBody>
          <a:bodyPr/>
          <a:lstStyle/>
          <a:p>
            <a:r>
              <a:rPr lang="en-IN" dirty="0"/>
              <a:t>Injection Attacks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632BFB-BFAA-551F-75C7-A860AAC6AA24}"/>
              </a:ext>
            </a:extLst>
          </p:cNvPr>
          <p:cNvSpPr txBox="1"/>
          <p:nvPr/>
        </p:nvSpPr>
        <p:spPr>
          <a:xfrm>
            <a:off x="1522414" y="1535668"/>
            <a:ext cx="738031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Threat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/>
              <a:t>User input alters queries or executes code:</a:t>
            </a:r>
            <a:br>
              <a:rPr lang="en-US" dirty="0"/>
            </a:br>
            <a:r>
              <a:rPr lang="en-US" dirty="0"/>
              <a:t>{"username": { "$ne": null },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"password": { "$ne": null }}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User.findOne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({ username: { $ne: null }, password: { $ne: null } })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b="1" dirty="0">
                <a:latin typeface="Arial" panose="020B0604020202020204" pitchFamily="34" charset="0"/>
              </a:rPr>
              <a:t>Mitigation</a:t>
            </a:r>
            <a:r>
              <a:rPr lang="en-US" altLang="en-US" dirty="0">
                <a:latin typeface="Arial" panose="020B0604020202020204" pitchFamily="34" charset="0"/>
              </a:rPr>
              <a:t>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</a:rPr>
              <a:t>Having middleware and encrypted data solves the issue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Input sanitization</a:t>
            </a:r>
            <a:r>
              <a:rPr lang="en-US" dirty="0"/>
              <a:t> before running a </a:t>
            </a:r>
            <a:r>
              <a:rPr lang="en-US" b="1" dirty="0"/>
              <a:t>database query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22231B-B38F-9895-E005-303A0B48C757}"/>
              </a:ext>
            </a:extLst>
          </p:cNvPr>
          <p:cNvSpPr txBox="1"/>
          <p:nvPr/>
        </p:nvSpPr>
        <p:spPr>
          <a:xfrm>
            <a:off x="1522413" y="1124744"/>
            <a:ext cx="6141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Stopping Malicious Input Execution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48BCF45-2F9A-0C9B-A284-F9EF55652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918614"/>
              </p:ext>
            </p:extLst>
          </p:nvPr>
        </p:nvGraphicFramePr>
        <p:xfrm>
          <a:off x="1522412" y="3919864"/>
          <a:ext cx="9144000" cy="265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56506191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59068089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9619964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Tool / Practice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Protection Provided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834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MongoDB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Mongoose Schemas + express-mongo-sanitize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Prevent NoSQL Injection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3364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express-validator + Helmet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Input Validation + HTTP Header Hardening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3171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Built-in Escaping + DOMPurify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XSS Mitigation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486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Validator.js + CSP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Request Sanitization + Script Blocking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0793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5375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B27A6-2C7A-3367-280C-EE827CD59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BB444-CFF6-36C5-CEBE-77C1211A5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05623"/>
            <a:ext cx="9143998" cy="1020762"/>
          </a:xfrm>
        </p:spPr>
        <p:txBody>
          <a:bodyPr/>
          <a:lstStyle/>
          <a:p>
            <a:r>
              <a:rPr lang="en-IN" dirty="0"/>
              <a:t>Vulnerable Components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487F3B-33D7-51A4-BB1E-C058CA176DEA}"/>
              </a:ext>
            </a:extLst>
          </p:cNvPr>
          <p:cNvSpPr txBox="1"/>
          <p:nvPr/>
        </p:nvSpPr>
        <p:spPr>
          <a:xfrm>
            <a:off x="1522414" y="1535668"/>
            <a:ext cx="73803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Threat</a:t>
            </a:r>
            <a:r>
              <a:rPr lang="en-US" altLang="en-US" dirty="0">
                <a:latin typeface="Arial" panose="020B0604020202020204" pitchFamily="34" charset="0"/>
              </a:rPr>
              <a:t>: Outdated libraries or OS vulnerabilities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b="1" dirty="0">
                <a:latin typeface="Arial" panose="020B0604020202020204" pitchFamily="34" charset="0"/>
              </a:rPr>
              <a:t>Mitigation</a:t>
            </a:r>
            <a:r>
              <a:rPr lang="en-US" altLang="en-US" dirty="0">
                <a:latin typeface="Arial" panose="020B0604020202020204" pitchFamily="34" charset="0"/>
              </a:rPr>
              <a:t>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</a:rPr>
              <a:t>Do regular dependency audits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Make use of tools such as </a:t>
            </a:r>
            <a:r>
              <a:rPr lang="en-US" b="1" dirty="0" err="1"/>
              <a:t>github</a:t>
            </a:r>
            <a:r>
              <a:rPr lang="en-US" b="1" dirty="0"/>
              <a:t> </a:t>
            </a:r>
            <a:r>
              <a:rPr lang="en-US" b="1" dirty="0" err="1"/>
              <a:t>dependabot</a:t>
            </a:r>
            <a:endParaRPr 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99043B-845C-FC51-5C52-E74478E9F621}"/>
              </a:ext>
            </a:extLst>
          </p:cNvPr>
          <p:cNvSpPr txBox="1"/>
          <p:nvPr/>
        </p:nvSpPr>
        <p:spPr>
          <a:xfrm>
            <a:off x="1522413" y="1124744"/>
            <a:ext cx="6141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Staying Secure with Updated Dependencies</a:t>
            </a:r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E4DAB2F-482F-1A9B-63F3-9C5305FB8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AE8F96-C9B6-2124-BE4D-8F3655984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20" y="3580756"/>
            <a:ext cx="5744377" cy="21243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97D8BE-A603-40E3-B6C3-A8CC231B9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476" y="2636912"/>
            <a:ext cx="5357747" cy="363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290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D1EAA-71C6-A05E-6648-35B2EACAC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9B2E6-BACD-D4A9-3267-B2A3B9FF8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05623"/>
            <a:ext cx="9143998" cy="1020762"/>
          </a:xfrm>
        </p:spPr>
        <p:txBody>
          <a:bodyPr/>
          <a:lstStyle/>
          <a:p>
            <a:r>
              <a:rPr lang="en-IN" dirty="0"/>
              <a:t>Authentication Failures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36E77E-6344-D54E-C12A-76CD44787C18}"/>
              </a:ext>
            </a:extLst>
          </p:cNvPr>
          <p:cNvSpPr txBox="1"/>
          <p:nvPr/>
        </p:nvSpPr>
        <p:spPr>
          <a:xfrm>
            <a:off x="1522414" y="1535668"/>
            <a:ext cx="91439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Threat</a:t>
            </a:r>
            <a:r>
              <a:rPr lang="en-US" altLang="en-US" dirty="0">
                <a:latin typeface="Arial" panose="020B0604020202020204" pitchFamily="34" charset="0"/>
              </a:rPr>
              <a:t>: </a:t>
            </a:r>
            <a:r>
              <a:rPr lang="en-US" altLang="en-US" dirty="0"/>
              <a:t>I</a:t>
            </a:r>
            <a:r>
              <a:rPr lang="en-US" dirty="0"/>
              <a:t>nsufficient validation</a:t>
            </a:r>
            <a:r>
              <a:rPr lang="en-US" dirty="0">
                <a:latin typeface="Arial" panose="020B0604020202020204" pitchFamily="34" charset="0"/>
              </a:rPr>
              <a:t>, </a:t>
            </a:r>
            <a:r>
              <a:rPr lang="en-US" dirty="0"/>
              <a:t>Stolen/long-lived tokens, token replay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b="1" dirty="0">
                <a:latin typeface="Arial" panose="020B0604020202020204" pitchFamily="34" charset="0"/>
              </a:rPr>
              <a:t>Mitigation</a:t>
            </a:r>
            <a:r>
              <a:rPr lang="en-US" altLang="en-US" dirty="0">
                <a:latin typeface="Arial" panose="020B0604020202020204" pitchFamily="34" charset="0"/>
              </a:rPr>
              <a:t>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Make use of authentication Tokens for sessions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Short access token lifetime</a:t>
            </a:r>
            <a:r>
              <a:rPr lang="en-US" dirty="0"/>
              <a:t> (e.g., 5–15 minutes) and </a:t>
            </a:r>
            <a:r>
              <a:rPr lang="en-US" b="1" dirty="0"/>
              <a:t>use refresh tokens</a:t>
            </a:r>
            <a:r>
              <a:rPr lang="en-US" dirty="0"/>
              <a:t> for sessions.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Store tokens securely:</a:t>
            </a:r>
            <a:r>
              <a:rPr lang="en-US" dirty="0"/>
              <a:t> keep access tokens out of </a:t>
            </a:r>
            <a:r>
              <a:rPr lang="en-US" dirty="0" err="1"/>
              <a:t>localStorage</a:t>
            </a:r>
            <a:r>
              <a:rPr lang="en-US" dirty="0"/>
              <a:t>; prefer </a:t>
            </a:r>
            <a:r>
              <a:rPr lang="en-US" b="1" dirty="0" err="1"/>
              <a:t>HttpOnly</a:t>
            </a:r>
            <a:r>
              <a:rPr lang="en-US" b="1" dirty="0"/>
              <a:t>, Secure, </a:t>
            </a:r>
            <a:r>
              <a:rPr lang="en-US" b="1" dirty="0" err="1"/>
              <a:t>SameSite</a:t>
            </a:r>
            <a:r>
              <a:rPr lang="en-US" b="1" dirty="0"/>
              <a:t> cookies</a:t>
            </a:r>
            <a:r>
              <a:rPr lang="en-US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86079A-002A-57D6-4770-90D2FF8DB7BE}"/>
              </a:ext>
            </a:extLst>
          </p:cNvPr>
          <p:cNvSpPr txBox="1"/>
          <p:nvPr/>
        </p:nvSpPr>
        <p:spPr>
          <a:xfrm>
            <a:off x="1522413" y="1124744"/>
            <a:ext cx="6141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Strengthening Login and Sessions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12C6E4A-ACBF-D62F-3C4E-2515E3E0B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C4833F-A975-E656-2B85-F4681DCA4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014" y="3403848"/>
            <a:ext cx="9550796" cy="17028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3B50AB-2E3D-23AD-3B05-EB5945C5E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0516" y="5467457"/>
            <a:ext cx="3381375" cy="10191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520999-A56F-FBEB-036F-ECEBC0E7CD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014" y="5233338"/>
            <a:ext cx="5201376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542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6192A13-A676-A2DB-8199-47C0BA6B8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we saw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53ABD4-2DFB-5478-3DD3-81BE83372649}"/>
              </a:ext>
            </a:extLst>
          </p:cNvPr>
          <p:cNvSpPr txBox="1"/>
          <p:nvPr/>
        </p:nvSpPr>
        <p:spPr>
          <a:xfrm>
            <a:off x="1341884" y="1700808"/>
            <a:ext cx="1017666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OWASP Top 10 threats 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Broken Access Control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SSRF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each showing how small mistakes in code or design can expose a full stack.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 MERN, attacks like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Privilege Escalation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NoSQL Injection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JWT misuse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weak configuration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were most critical.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These risks often connect insecure design or missing validation leads to multiple layered exploits.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Importance of Security Guideline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: Secure System Design with a proper Security Guideline from the start of development is better the patching every issue afterwards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2C1B10-6160-7C17-CEFC-88EFA2BE9730}"/>
              </a:ext>
            </a:extLst>
          </p:cNvPr>
          <p:cNvSpPr txBox="1"/>
          <p:nvPr/>
        </p:nvSpPr>
        <p:spPr>
          <a:xfrm>
            <a:off x="1922264" y="4563130"/>
            <a:ext cx="901590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Security isn’t a feature — it’s a continuous practice</a:t>
            </a:r>
            <a:endParaRPr lang="en-IN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30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87E77-6674-D031-A922-3FEE13729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8A6E93-0ED0-41B7-BBD1-CB704B4C3E02}"/>
              </a:ext>
            </a:extLst>
          </p:cNvPr>
          <p:cNvSpPr txBox="1"/>
          <p:nvPr/>
        </p:nvSpPr>
        <p:spPr>
          <a:xfrm>
            <a:off x="1269876" y="1556792"/>
            <a:ext cx="964907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rtl="0" eaLnBrk="1" latinLnBrk="0" hangingPunct="1">
              <a:buNone/>
            </a:pPr>
            <a:r>
              <a:rPr lang="en-US" sz="6000" b="1" kern="1200" dirty="0">
                <a:solidFill>
                  <a:srgbClr val="FFFFFF"/>
                </a:solidFill>
                <a:effectLst/>
                <a:latin typeface="Corbel" panose="020B0503020204020204" pitchFamily="34" charset="0"/>
                <a:ea typeface="+mn-ea"/>
                <a:cs typeface="+mn-cs"/>
              </a:rPr>
              <a:t>Thank you</a:t>
            </a:r>
            <a:endParaRPr lang="en-IN" sz="6000" dirty="0">
              <a:effectLst/>
            </a:endParaRPr>
          </a:p>
          <a:p>
            <a:pPr marL="0" algn="ctr" rtl="0" eaLnBrk="1" latinLnBrk="0" hangingPunct="1">
              <a:buNone/>
            </a:pPr>
            <a:endParaRPr lang="en-US" sz="3600" b="1" kern="1200" dirty="0">
              <a:solidFill>
                <a:srgbClr val="FFFFFF"/>
              </a:solidFill>
              <a:effectLst/>
              <a:latin typeface="Corbel" panose="020B0503020204020204" pitchFamily="34" charset="0"/>
              <a:ea typeface="+mn-ea"/>
              <a:cs typeface="+mn-cs"/>
            </a:endParaRPr>
          </a:p>
          <a:p>
            <a:pPr marL="0" algn="ctr" rtl="0" eaLnBrk="1" latinLnBrk="0" hangingPunct="1">
              <a:buNone/>
            </a:pPr>
            <a:r>
              <a:rPr lang="en-US" sz="3600" b="1" kern="1200" dirty="0">
                <a:solidFill>
                  <a:srgbClr val="FFFFFF"/>
                </a:solidFill>
                <a:effectLst/>
                <a:latin typeface="Corbel" panose="020B0503020204020204" pitchFamily="34" charset="0"/>
                <a:ea typeface="+mn-ea"/>
                <a:cs typeface="+mn-cs"/>
              </a:rPr>
              <a:t>Prepared by Dipen P. Patel (2025ICS-008)</a:t>
            </a:r>
            <a:endParaRPr lang="en-IN" sz="3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55822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0001018.potx" id="{D19C2884-2C55-4C1A-A5C2-5D03FF1F35A4}" vid="{5F7A9C6A-558C-4654-B762-2F22BC904FAE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Chalkboard education presentation (widescreen)</Template>
  <TotalTime>186</TotalTime>
  <Words>485</Words>
  <Application>Microsoft Office PowerPoint</Application>
  <PresentationFormat>Custom</PresentationFormat>
  <Paragraphs>77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Consolas</vt:lpstr>
      <vt:lpstr>Corbel</vt:lpstr>
      <vt:lpstr>Wingdings</vt:lpstr>
      <vt:lpstr>Chalkboard 16x9</vt:lpstr>
      <vt:lpstr>Securing a WebApp: Defending OWASP Top10</vt:lpstr>
      <vt:lpstr>Understanding the MERN Security Landscape and OWASP top 10</vt:lpstr>
      <vt:lpstr>Broken Access Control</vt:lpstr>
      <vt:lpstr>Broken Access Control</vt:lpstr>
      <vt:lpstr>Broken Access Control</vt:lpstr>
      <vt:lpstr>Broken Access Control</vt:lpstr>
      <vt:lpstr>Cryptographic Failures</vt:lpstr>
      <vt:lpstr>Injection Attacks</vt:lpstr>
      <vt:lpstr>Vulnerable Components</vt:lpstr>
      <vt:lpstr>Authentication Failures</vt:lpstr>
      <vt:lpstr>What we saw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DOodle 2523</dc:creator>
  <cp:lastModifiedBy>DOodle 2523</cp:lastModifiedBy>
  <cp:revision>6</cp:revision>
  <dcterms:created xsi:type="dcterms:W3CDTF">2025-10-19T06:01:14Z</dcterms:created>
  <dcterms:modified xsi:type="dcterms:W3CDTF">2025-10-24T10:10:55Z</dcterms:modified>
</cp:coreProperties>
</file>